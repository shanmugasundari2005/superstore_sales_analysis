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mpact" charset="1" panose="020B0806030902050204"/>
      <p:regular r:id="rId21"/>
    </p:embeddedFont>
    <p:embeddedFont>
      <p:font typeface="Clear Sans" charset="1" panose="020B05030302020203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95003" y="3039520"/>
            <a:ext cx="12697994" cy="311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3"/>
              </a:lnSpc>
            </a:pPr>
            <a:r>
              <a:rPr lang="en-US" sz="13015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 SALES DATASET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79722" y="8881419"/>
            <a:ext cx="6808278" cy="162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SHANMUGASUNDARI B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09-09-2025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DADS [July]</a:t>
            </a:r>
          </a:p>
          <a:p>
            <a:pPr algn="ctr">
              <a:lnSpc>
                <a:spcPts val="320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525589" y="5790823"/>
            <a:ext cx="8818413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-Advanced excel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41752" y="719135"/>
            <a:ext cx="9932562" cy="111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1"/>
              </a:lnSpc>
            </a:pPr>
            <a:r>
              <a:rPr lang="en-US" sz="818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OBJECTIVE AND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25938" y="5915971"/>
            <a:ext cx="92362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• Perform</a:t>
            </a: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comprehensive sales data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30408" y="6667811"/>
            <a:ext cx="69379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• Extr</a:t>
            </a: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act meaningful insights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25863" y="7419651"/>
            <a:ext cx="103536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• Cre</a:t>
            </a: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ate interactive visualizations and dashboards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25938" y="8169323"/>
            <a:ext cx="73061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• Leverage a</a:t>
            </a: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dvanced Excel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25863" y="8918994"/>
            <a:ext cx="80646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• Provi</a:t>
            </a: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de actionable recommendations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39642" y="4733763"/>
            <a:ext cx="1967431" cy="87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0"/>
              </a:lnSpc>
            </a:pPr>
            <a:r>
              <a:rPr lang="en-US" sz="512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79463" y="1762598"/>
            <a:ext cx="1121929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 analyse sales data to identify trends,understand sales performance,and provide actionable business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insights.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846661"/>
            <a:ext cx="5691617" cy="91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4"/>
              </a:lnSpc>
            </a:pPr>
            <a:r>
              <a:rPr lang="en-US" sz="531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description: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03268" y="1938518"/>
            <a:ext cx="1188146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9900+ rows,columns such as Order ID,Sales ID,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Type,etc..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223" y="3746284"/>
            <a:ext cx="6259768" cy="71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42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Process: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77953" y="4819967"/>
            <a:ext cx="1033209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 formatting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Discount as percentage(%)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 as currency($)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Removed duplicate records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Numerical as correction of two decimal values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blanks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35223" y="1858490"/>
            <a:ext cx="10325619" cy="3685883"/>
          </a:xfrm>
          <a:custGeom>
            <a:avLst/>
            <a:gdLst/>
            <a:ahLst/>
            <a:cxnLst/>
            <a:rect r="r" b="b" t="t" l="l"/>
            <a:pathLst>
              <a:path h="3685883" w="10325619">
                <a:moveTo>
                  <a:pt x="0" y="0"/>
                </a:moveTo>
                <a:lnTo>
                  <a:pt x="10325619" y="0"/>
                </a:lnTo>
                <a:lnTo>
                  <a:pt x="10325619" y="3685884"/>
                </a:lnTo>
                <a:lnTo>
                  <a:pt x="0" y="3685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915" r="0" b="-14025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11594812" y="3929826"/>
            <a:ext cx="1543050" cy="791845"/>
            <a:chOff x="0" y="0"/>
            <a:chExt cx="406400" cy="2085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" cy="208552"/>
            </a:xfrm>
            <a:custGeom>
              <a:avLst/>
              <a:gdLst/>
              <a:ahLst/>
              <a:cxnLst/>
              <a:rect r="r" b="b" t="t" l="l"/>
              <a:pathLst>
                <a:path h="208552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104276"/>
                  </a:lnTo>
                  <a:lnTo>
                    <a:pt x="203200" y="208552"/>
                  </a:lnTo>
                  <a:lnTo>
                    <a:pt x="0" y="208552"/>
                  </a:lnTo>
                  <a:lnTo>
                    <a:pt x="203200" y="10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77800" y="-38100"/>
              <a:ext cx="152400" cy="24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492947" y="5811074"/>
            <a:ext cx="10795053" cy="4475926"/>
          </a:xfrm>
          <a:custGeom>
            <a:avLst/>
            <a:gdLst/>
            <a:ahLst/>
            <a:cxnLst/>
            <a:rect r="r" b="b" t="t" l="l"/>
            <a:pathLst>
              <a:path h="4475926" w="10795053">
                <a:moveTo>
                  <a:pt x="0" y="0"/>
                </a:moveTo>
                <a:lnTo>
                  <a:pt x="10795053" y="0"/>
                </a:lnTo>
                <a:lnTo>
                  <a:pt x="10795053" y="4475926"/>
                </a:lnTo>
                <a:lnTo>
                  <a:pt x="0" y="44759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31" t="-3122" r="-5031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31958" y="596697"/>
            <a:ext cx="14772748" cy="113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8372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DATASET BEFORE AND AFTER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72141" y="3834576"/>
            <a:ext cx="34651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500981" y="7486326"/>
            <a:ext cx="1543050" cy="690523"/>
            <a:chOff x="0" y="0"/>
            <a:chExt cx="406400" cy="1818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400" cy="181866"/>
            </a:xfrm>
            <a:custGeom>
              <a:avLst/>
              <a:gdLst/>
              <a:ahLst/>
              <a:cxnLst/>
              <a:rect r="r" b="b" t="t" l="l"/>
              <a:pathLst>
                <a:path h="181866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90933"/>
                  </a:lnTo>
                  <a:lnTo>
                    <a:pt x="203200" y="181866"/>
                  </a:lnTo>
                  <a:lnTo>
                    <a:pt x="0" y="181866"/>
                  </a:lnTo>
                  <a:lnTo>
                    <a:pt x="203200" y="90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7800" y="-38100"/>
              <a:ext cx="152400" cy="219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345016" y="7340415"/>
            <a:ext cx="34651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63331" y="3546259"/>
            <a:ext cx="12681049" cy="42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6901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Adjusted Sales = Sales*(1-Discount)</a:t>
            </a:r>
          </a:p>
          <a:p>
            <a:pPr algn="l" marL="734059" indent="-367030" lvl="1">
              <a:lnSpc>
                <a:spcPts val="6901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Total Revenue = Sum of Adjusted sales</a:t>
            </a:r>
          </a:p>
          <a:p>
            <a:pPr algn="ctr" marL="734059" indent="-367030" lvl="1">
              <a:lnSpc>
                <a:spcPts val="6901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Average Order Value=Total Adjusted sales / Total Revenue</a:t>
            </a:r>
          </a:p>
          <a:p>
            <a:pPr algn="l" marL="734059" indent="-367030" lvl="1">
              <a:lnSpc>
                <a:spcPts val="6901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Discount Amount= Sales*Discount</a:t>
            </a:r>
          </a:p>
          <a:p>
            <a:pPr algn="l" marL="734059" indent="-367030" lvl="1">
              <a:lnSpc>
                <a:spcPts val="6901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Total Discounts= Sum of all Discounts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304570" y="3822484"/>
            <a:ext cx="5796743" cy="654723"/>
          </a:xfrm>
          <a:custGeom>
            <a:avLst/>
            <a:gdLst/>
            <a:ahLst/>
            <a:cxnLst/>
            <a:rect r="r" b="b" t="t" l="l"/>
            <a:pathLst>
              <a:path h="654723" w="5796743">
                <a:moveTo>
                  <a:pt x="0" y="0"/>
                </a:moveTo>
                <a:lnTo>
                  <a:pt x="5796742" y="0"/>
                </a:lnTo>
                <a:lnTo>
                  <a:pt x="5796742" y="654724"/>
                </a:lnTo>
                <a:lnTo>
                  <a:pt x="0" y="654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76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802112" y="6479797"/>
            <a:ext cx="4785177" cy="557178"/>
          </a:xfrm>
          <a:custGeom>
            <a:avLst/>
            <a:gdLst/>
            <a:ahLst/>
            <a:cxnLst/>
            <a:rect r="r" b="b" t="t" l="l"/>
            <a:pathLst>
              <a:path h="557178" w="4785177">
                <a:moveTo>
                  <a:pt x="0" y="0"/>
                </a:moveTo>
                <a:lnTo>
                  <a:pt x="4785178" y="0"/>
                </a:lnTo>
                <a:lnTo>
                  <a:pt x="4785178" y="557179"/>
                </a:lnTo>
                <a:lnTo>
                  <a:pt x="0" y="5571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0" y="591782"/>
            <a:ext cx="16192394" cy="9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0"/>
              </a:lnSpc>
            </a:pPr>
            <a:r>
              <a:rPr lang="en-US" sz="7366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KEY METRICS CALCULATION AND DATA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35223" y="1809426"/>
            <a:ext cx="15659100" cy="7451584"/>
          </a:xfrm>
          <a:custGeom>
            <a:avLst/>
            <a:gdLst/>
            <a:ahLst/>
            <a:cxnLst/>
            <a:rect r="r" b="b" t="t" l="l"/>
            <a:pathLst>
              <a:path h="7451584" w="15659100">
                <a:moveTo>
                  <a:pt x="0" y="0"/>
                </a:moveTo>
                <a:lnTo>
                  <a:pt x="15659100" y="0"/>
                </a:lnTo>
                <a:lnTo>
                  <a:pt x="15659100" y="7451584"/>
                </a:lnTo>
                <a:lnTo>
                  <a:pt x="0" y="7451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312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6751" y="537107"/>
            <a:ext cx="16162364" cy="76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1"/>
              </a:lnSpc>
            </a:pPr>
            <a:r>
              <a:rPr lang="en-US" sz="5672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KEY METRICS AND INSIGHTS CALCULATION AND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31958" y="558523"/>
            <a:ext cx="15864855" cy="113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8343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PIVOT TABLE AND PIVOT CHARTS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91805" y="2882780"/>
            <a:ext cx="10345936" cy="512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Fiel</a:t>
            </a:r>
            <a:r>
              <a:rPr lang="en-US" sz="264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ds Used</a:t>
            </a: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: Segment &amp; Category</a:t>
            </a:r>
          </a:p>
          <a:p>
            <a:pPr algn="ctr">
              <a:lnSpc>
                <a:spcPts val="3709"/>
              </a:lnSpc>
            </a:pPr>
          </a:p>
          <a:p>
            <a:pPr algn="ctr">
              <a:lnSpc>
                <a:spcPts val="3709"/>
              </a:lnSpc>
            </a:pPr>
            <a:r>
              <a:rPr lang="en-US" b="true" sz="2649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</a:t>
            </a: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: Analyze sales and profit performance by product type.</a:t>
            </a:r>
          </a:p>
          <a:p>
            <a:pPr algn="ctr">
              <a:lnSpc>
                <a:spcPts val="3709"/>
              </a:lnSpc>
            </a:pPr>
          </a:p>
          <a:p>
            <a:pPr algn="l">
              <a:lnSpc>
                <a:spcPts val="3709"/>
              </a:lnSpc>
            </a:pPr>
            <a:r>
              <a:rPr lang="en-US" sz="264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Pivot Setup</a:t>
            </a: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Rows: Segment 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         </a:t>
            </a: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Category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Values: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Adjusted Sales (Sum) &amp; (avg)</a:t>
            </a:r>
          </a:p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discount</a:t>
            </a:r>
            <a:r>
              <a:rPr lang="en-US" sz="264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(Sum)</a:t>
            </a:r>
          </a:p>
          <a:p>
            <a:pPr algn="ctr">
              <a:lnSpc>
                <a:spcPts val="370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994" y="1901071"/>
            <a:ext cx="8335330" cy="2033007"/>
          </a:xfrm>
          <a:custGeom>
            <a:avLst/>
            <a:gdLst/>
            <a:ahLst/>
            <a:cxnLst/>
            <a:rect r="r" b="b" t="t" l="l"/>
            <a:pathLst>
              <a:path h="2033007" w="8335330">
                <a:moveTo>
                  <a:pt x="0" y="0"/>
                </a:moveTo>
                <a:lnTo>
                  <a:pt x="8335330" y="0"/>
                </a:lnTo>
                <a:lnTo>
                  <a:pt x="8335330" y="2033007"/>
                </a:lnTo>
                <a:lnTo>
                  <a:pt x="0" y="2033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826413" y="1747178"/>
            <a:ext cx="6441700" cy="3824228"/>
          </a:xfrm>
          <a:custGeom>
            <a:avLst/>
            <a:gdLst/>
            <a:ahLst/>
            <a:cxnLst/>
            <a:rect r="r" b="b" t="t" l="l"/>
            <a:pathLst>
              <a:path h="3824228" w="6441700">
                <a:moveTo>
                  <a:pt x="0" y="0"/>
                </a:moveTo>
                <a:lnTo>
                  <a:pt x="6441700" y="0"/>
                </a:lnTo>
                <a:lnTo>
                  <a:pt x="6441700" y="3824228"/>
                </a:lnTo>
                <a:lnTo>
                  <a:pt x="0" y="3824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848281" y="6279666"/>
            <a:ext cx="5075438" cy="2413321"/>
          </a:xfrm>
          <a:custGeom>
            <a:avLst/>
            <a:gdLst/>
            <a:ahLst/>
            <a:cxnLst/>
            <a:rect r="r" b="b" t="t" l="l"/>
            <a:pathLst>
              <a:path h="2413321" w="5075438">
                <a:moveTo>
                  <a:pt x="0" y="0"/>
                </a:moveTo>
                <a:lnTo>
                  <a:pt x="5075437" y="0"/>
                </a:lnTo>
                <a:lnTo>
                  <a:pt x="5075437" y="2413321"/>
                </a:lnTo>
                <a:lnTo>
                  <a:pt x="0" y="2413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165367" y="5882604"/>
            <a:ext cx="5763793" cy="3616780"/>
          </a:xfrm>
          <a:custGeom>
            <a:avLst/>
            <a:gdLst/>
            <a:ahLst/>
            <a:cxnLst/>
            <a:rect r="r" b="b" t="t" l="l"/>
            <a:pathLst>
              <a:path h="3616780" w="5763793">
                <a:moveTo>
                  <a:pt x="0" y="0"/>
                </a:moveTo>
                <a:lnTo>
                  <a:pt x="5763793" y="0"/>
                </a:lnTo>
                <a:lnTo>
                  <a:pt x="5763793" y="3616780"/>
                </a:lnTo>
                <a:lnTo>
                  <a:pt x="0" y="3616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6896" y="541370"/>
            <a:ext cx="1517727" cy="69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3"/>
              </a:lnSpc>
            </a:pPr>
            <a:r>
              <a:rPr lang="en-US" sz="41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50670" y="404331"/>
            <a:ext cx="1550045" cy="72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424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1958" y="548998"/>
            <a:ext cx="15864855" cy="102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6"/>
              </a:lnSpc>
            </a:pPr>
            <a:r>
              <a:rPr lang="en-US" sz="754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DASHBOARD OVERVIEW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94709" y="1871780"/>
            <a:ext cx="14696349" cy="195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1"/>
              </a:lnSpc>
            </a:pPr>
            <a:r>
              <a:rPr lang="en-US" sz="2786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This dashboar</a:t>
            </a:r>
            <a:r>
              <a:rPr lang="en-US" sz="2786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 provides a comprehensive analysis of sales performance, discounts, and profitability across different dimensions such as time, product sub-categories, ship modes, and customer segments.</a:t>
            </a:r>
          </a:p>
          <a:p>
            <a:pPr algn="l">
              <a:lnSpc>
                <a:spcPts val="390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773845" y="4152813"/>
            <a:ext cx="6981081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62F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Metrics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Total Sales: 2,297,200.86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Average Sales: 0.86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Total Discount: 1,561.09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Top Product Sales: 741,999.80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65533" y="1387296"/>
            <a:ext cx="15055084" cy="6837180"/>
          </a:xfrm>
          <a:custGeom>
            <a:avLst/>
            <a:gdLst/>
            <a:ahLst/>
            <a:cxnLst/>
            <a:rect r="r" b="b" t="t" l="l"/>
            <a:pathLst>
              <a:path h="6837180" w="15055084">
                <a:moveTo>
                  <a:pt x="0" y="0"/>
                </a:moveTo>
                <a:lnTo>
                  <a:pt x="15055084" y="0"/>
                </a:lnTo>
                <a:lnTo>
                  <a:pt x="15055084" y="6837180"/>
                </a:lnTo>
                <a:lnTo>
                  <a:pt x="0" y="68371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2" t="0" r="-742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04297" y="4727060"/>
            <a:ext cx="8445262" cy="4151061"/>
          </a:xfrm>
          <a:custGeom>
            <a:avLst/>
            <a:gdLst/>
            <a:ahLst/>
            <a:cxnLst/>
            <a:rect r="r" b="b" t="t" l="l"/>
            <a:pathLst>
              <a:path h="4151061" w="8445262">
                <a:moveTo>
                  <a:pt x="0" y="0"/>
                </a:moveTo>
                <a:lnTo>
                  <a:pt x="8445262" y="0"/>
                </a:lnTo>
                <a:lnTo>
                  <a:pt x="8445262" y="4151060"/>
                </a:lnTo>
                <a:lnTo>
                  <a:pt x="0" y="4151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788119"/>
            <a:ext cx="12485865" cy="102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6"/>
              </a:lnSpc>
            </a:pPr>
            <a:r>
              <a:rPr lang="en-US" sz="754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WHAT IF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5714" y="2274591"/>
            <a:ext cx="13308385" cy="172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474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The process of</a:t>
            </a:r>
            <a:r>
              <a:rPr lang="en-US" sz="2474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changing the values in cells to see how those changes will affect the outcome of formulas on your worksheet. It is a powerful forecasting and planning tool that allows you to explore multiple scenarios and make data-driven decisions without changing your original data.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49841" y="4875716"/>
            <a:ext cx="5530182" cy="261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233" indent="-321617" lvl="1">
              <a:lnSpc>
                <a:spcPts val="4171"/>
              </a:lnSpc>
              <a:buFont typeface="Arial"/>
              <a:buChar char="•"/>
            </a:pPr>
            <a:r>
              <a:rPr lang="en-US" sz="297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Net</a:t>
            </a:r>
            <a:r>
              <a:rPr lang="en-US" sz="297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Value Calculation:</a:t>
            </a:r>
          </a:p>
          <a:p>
            <a:pPr algn="ctr">
              <a:lnSpc>
                <a:spcPts val="4171"/>
              </a:lnSpc>
            </a:pPr>
            <a:r>
              <a:rPr lang="en-US" sz="297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=Sales*(1-Discount)*Quantity</a:t>
            </a:r>
          </a:p>
          <a:p>
            <a:pPr algn="l" marL="643233" indent="-321617" lvl="1">
              <a:lnSpc>
                <a:spcPts val="4171"/>
              </a:lnSpc>
              <a:buFont typeface="Arial"/>
              <a:buChar char="•"/>
            </a:pPr>
            <a:r>
              <a:rPr lang="en-US" sz="297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5% Decreased Discount:</a:t>
            </a:r>
          </a:p>
          <a:p>
            <a:pPr algn="ctr">
              <a:lnSpc>
                <a:spcPts val="4171"/>
              </a:lnSpc>
            </a:pPr>
            <a:r>
              <a:rPr lang="en-US" sz="2979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=Netvalue*((1-Discount)-0.05)</a:t>
            </a:r>
          </a:p>
          <a:p>
            <a:pPr algn="just">
              <a:lnSpc>
                <a:spcPts val="417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321484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21484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691574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1574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44723" y="3431435"/>
            <a:ext cx="9296452" cy="5564685"/>
          </a:xfrm>
          <a:custGeom>
            <a:avLst/>
            <a:gdLst/>
            <a:ahLst/>
            <a:cxnLst/>
            <a:rect r="r" b="b" t="t" l="l"/>
            <a:pathLst>
              <a:path h="5564685" w="9296452">
                <a:moveTo>
                  <a:pt x="0" y="0"/>
                </a:moveTo>
                <a:lnTo>
                  <a:pt x="9296451" y="0"/>
                </a:lnTo>
                <a:lnTo>
                  <a:pt x="9296451" y="5564685"/>
                </a:lnTo>
                <a:lnTo>
                  <a:pt x="0" y="5564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91853" y="805278"/>
            <a:ext cx="11049322" cy="11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8323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POWER PIVOT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66427" y="1752587"/>
            <a:ext cx="4588278" cy="10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7823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10833" y="3547330"/>
            <a:ext cx="13983490" cy="379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Technology pro</a:t>
            </a: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ducts bring the highest sales and profit.</a:t>
            </a:r>
          </a:p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also do well, with good profit.</a:t>
            </a:r>
          </a:p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Furniture sells a lot but makes very little profit → discounts and delivery costs are </a:t>
            </a:r>
          </a:p>
          <a:p>
            <a:pPr algn="l">
              <a:lnSpc>
                <a:spcPts val="3770"/>
              </a:lnSpc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      eating margins.</a:t>
            </a:r>
          </a:p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Standard Class shipping gives the most sales and profit.</a:t>
            </a:r>
          </a:p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First Class and Same Day shipping cost more and bring less profit.</a:t>
            </a:r>
          </a:p>
          <a:p>
            <a:pPr algn="l" marL="581436" indent="-290718" lvl="1">
              <a:lnSpc>
                <a:spcPts val="3770"/>
              </a:lnSpc>
              <a:buFont typeface="Arial"/>
              <a:buChar char="•"/>
            </a:pPr>
            <a:r>
              <a:rPr lang="en-US" sz="2693">
                <a:solidFill>
                  <a:srgbClr val="262F43"/>
                </a:solidFill>
                <a:latin typeface="Canva Sans"/>
                <a:ea typeface="Canva Sans"/>
                <a:cs typeface="Canva Sans"/>
                <a:sym typeface="Canva Sans"/>
              </a:rPr>
              <a:t>Discounts are high (13–16%), and they hurt profits, especially for Furniture.</a:t>
            </a:r>
          </a:p>
          <a:p>
            <a:pPr algn="l">
              <a:lnSpc>
                <a:spcPts val="377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8487" y="3623965"/>
            <a:ext cx="16451306" cy="29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279" indent="-305640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 Furniture → Re</a:t>
            </a: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duce big discounts and control shipping costs.</a:t>
            </a:r>
          </a:p>
          <a:p>
            <a:pPr algn="l" marL="611279" indent="-305640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Discounts → Offer discounts only on selected products, not everywhere.</a:t>
            </a:r>
          </a:p>
          <a:p>
            <a:pPr algn="l" marL="611279" indent="-305640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 on Tech &amp; Office Supplies → Promote more, as they give good profit.</a:t>
            </a:r>
          </a:p>
          <a:p>
            <a:pPr algn="l" marL="611279" indent="-305640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Push Standard Shipping → Encourage customers to use it (like free shipping offers).</a:t>
            </a:r>
          </a:p>
          <a:p>
            <a:pPr algn="l" marL="611279" indent="-305640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Premium Shipping wisely → Keep Same Day and First Class for urgent or VIP orders only.</a:t>
            </a:r>
          </a:p>
          <a:p>
            <a:pPr algn="l">
              <a:lnSpc>
                <a:spcPts val="396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31958" y="1933251"/>
            <a:ext cx="7956519" cy="10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7823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707646" y="3145016"/>
            <a:ext cx="10920782" cy="43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DAGxiBmOgow</dc:identifier>
  <dcterms:modified xsi:type="dcterms:W3CDTF">2011-08-01T06:04:30Z</dcterms:modified>
  <cp:revision>1</cp:revision>
  <dc:title>Blue Simple Geometric Project Presentation</dc:title>
</cp:coreProperties>
</file>